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0323" y="34964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076" y="3234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6935" y="3010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1990" y="28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0144" y="27156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0168" y="2657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0749" y="26626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0551" y="2731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272" y="28607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2699" y="304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2765" y="32756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7727" y="2878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232" y="23538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951" y="19064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60" y="1555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7369" y="1316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417" y="1199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579" y="1210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183" y="134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624" y="16066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2478" y="197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610" y="2436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30" y="225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2389" y="14733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4967" y="8022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131" y="2759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4594" y="-82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4666" y="-257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6409" y="-2416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815" y="-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8976" y="3525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2257" y="90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2455" y="15973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-27465" y="1641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545" y="592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983" y="-301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9201" y="-1003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1819" y="-14816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1915" y="-17150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4239" y="-16937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447" y="-14185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4328" y="-9014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02036" y="-16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2300" y="75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160062" y="10232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81297" y="-287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999" y="-14060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8272" y="-22832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9044" y="-28807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9163" y="-31725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2069" y="-3145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1079" y="-2801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9680" y="-21555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1815" y="-12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2146" y="-810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-292658" y="4049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-198141" y="-11680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-72984" y="-25102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342" y="-35628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46269" y="-427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6412" y="-46300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9899" y="-45980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88711" y="-4185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55032" y="-3409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01594" y="-230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21991" y="-920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60120" y="1325880"/>
            <a:ext cx="10241280" cy="1874519"/>
          </a:xfrm>
          <a:prstGeom prst="roundRect">
            <a:avLst/>
          </a:prstGeom>
          <a:solidFill>
            <a:srgbClr val="CF1C08"/>
          </a:solidFill>
          <a:ln>
            <a:solidFill>
              <a:srgbClr val="A016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400">
                <a:solidFill>
                  <a:srgbClr val="FFFFFF"/>
                </a:solidFill>
                <a:latin typeface="Georgia"/>
              </a:rPr>
              <a:t>Resume–Job Matching &amp;
Talent-Marketplace Engine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0" y="365760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A01608"/>
                </a:solidFill>
                <a:latin typeface="Arial"/>
              </a:rPr>
              <a:t>Project Presentation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28800" y="434340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24E"/>
                </a:solidFill>
                <a:latin typeface="Arial"/>
              </a:rPr>
              <a:t>An intelligent platform for candidate–job matching, skill normalization and talent allocation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0323" y="34964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076" y="3234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6935" y="3010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1990" y="28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0144" y="27156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0168" y="2657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0749" y="26626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0551" y="2731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272" y="28607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2699" y="304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2765" y="32756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7727" y="2878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232" y="23538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951" y="19064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60" y="1555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7369" y="1316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417" y="1199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579" y="1210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183" y="134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624" y="16066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2478" y="197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610" y="2436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30" y="225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2389" y="14733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4967" y="8022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131" y="2759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4594" y="-82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4666" y="-257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6409" y="-2416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815" y="-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8976" y="3525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2257" y="90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2455" y="15973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-27465" y="1641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545" y="592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983" y="-301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9201" y="-1003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1819" y="-14816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1915" y="-17150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4239" y="-16937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447" y="-14185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4328" y="-9014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02036" y="-16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2300" y="75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160062" y="10232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81297" y="-287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999" y="-14060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8272" y="-22832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9044" y="-28807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9163" y="-31725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2069" y="-3145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1079" y="-2801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9680" y="-21555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1815" y="-12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2146" y="-810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-292658" y="4049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-198141" y="-11680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-72984" y="-25102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342" y="-35628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46269" y="-427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6412" y="-46300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9899" y="-45980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88711" y="-4185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55032" y="-3409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01594" y="-230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21991" y="-920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520440" y="201168"/>
            <a:ext cx="8092440" cy="566928"/>
          </a:xfrm>
          <a:prstGeom prst="roundRect">
            <a:avLst/>
          </a:prstGeom>
          <a:solidFill>
            <a:srgbClr val="CF1C08"/>
          </a:solidFill>
          <a:ln>
            <a:solidFill>
              <a:srgbClr val="A016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500">
                <a:solidFill>
                  <a:srgbClr val="FFFFFF"/>
                </a:solidFill>
                <a:latin typeface="Georgia"/>
              </a:rPr>
              <a:t>Contents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24E"/>
                </a:solidFill>
                <a:latin typeface="Arial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" y="1143000"/>
            <a:ext cx="10241280" cy="52120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  <a:latin typeface="Georgia"/>
              </a:defRPr>
            </a:pPr>
            <a:r>
              <a:t>•  Abstract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  <a:latin typeface="Georgia"/>
              </a:defRPr>
            </a:pPr>
            <a:r>
              <a:t>•  Introduction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  <a:latin typeface="Georgia"/>
              </a:defRPr>
            </a:pPr>
            <a:r>
              <a:t>•  Literature Survey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  <a:latin typeface="Georgia"/>
              </a:defRPr>
            </a:pPr>
            <a:r>
              <a:t>•  Problem Statement and Objectives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  <a:latin typeface="Georgia"/>
              </a:defRPr>
            </a:pPr>
            <a:r>
              <a:t>•  Hardware and Software Requirements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  <a:latin typeface="Georgia"/>
              </a:defRPr>
            </a:pPr>
            <a:r>
              <a:t>•  Results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  <a:latin typeface="Georgia"/>
              </a:defRPr>
            </a:pPr>
            <a:r>
              <a:t>•  Conclusion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  <a:latin typeface="Georgia"/>
              </a:defRPr>
            </a:pPr>
            <a:r>
              <a:t>•  Future Scope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641908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A524E"/>
                </a:solidFill>
                <a:latin typeface="Arial"/>
              </a:rPr>
              <a:t>Resume–Job Matching &amp; Talent-Marketplace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0323" y="34964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076" y="3234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6935" y="3010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1990" y="28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0144" y="27156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0168" y="2657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0749" y="26626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0551" y="2731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272" y="28607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2699" y="304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2765" y="32756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7727" y="2878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232" y="23538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951" y="19064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60" y="1555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7369" y="1316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417" y="1199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579" y="1210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183" y="134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624" y="16066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2478" y="197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610" y="2436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30" y="225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2389" y="14733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4967" y="8022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131" y="2759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4594" y="-82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4666" y="-257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6409" y="-2416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815" y="-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8976" y="3525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2257" y="90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2455" y="15973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-27465" y="1641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545" y="592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983" y="-301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9201" y="-1003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1819" y="-14816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1915" y="-17150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4239" y="-16937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447" y="-14185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4328" y="-9014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02036" y="-16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2300" y="75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160062" y="10232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81297" y="-287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999" y="-14060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8272" y="-22832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9044" y="-28807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9163" y="-31725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2069" y="-3145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1079" y="-2801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9680" y="-21555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1815" y="-12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2146" y="-810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-292658" y="4049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-198141" y="-11680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-72984" y="-25102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342" y="-35628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46269" y="-427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6412" y="-46300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9899" y="-45980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88711" y="-4185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55032" y="-3409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01594" y="-230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21991" y="-920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520440" y="201168"/>
            <a:ext cx="8092440" cy="566928"/>
          </a:xfrm>
          <a:prstGeom prst="roundRect">
            <a:avLst/>
          </a:prstGeom>
          <a:solidFill>
            <a:srgbClr val="CF1C08"/>
          </a:solidFill>
          <a:ln>
            <a:solidFill>
              <a:srgbClr val="A016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500">
                <a:solidFill>
                  <a:srgbClr val="FFFFFF"/>
                </a:solidFill>
                <a:latin typeface="Georgia"/>
              </a:rPr>
              <a:t>Abstract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24E"/>
                </a:solidFill>
                <a:latin typeface="Arial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1143000"/>
            <a:ext cx="10561320" cy="53035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Georgia"/>
              </a:defRPr>
            </a:pPr>
            <a:r>
              <a:t>•  The proposed engine automates matching between candidate résumés and job postings using structured skill and experience data.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Georgia"/>
              </a:defRPr>
            </a:pPr>
            <a:r>
              <a:t>•  It normalizes different skill names and synonyms into a common vocabulary for more reliable comparison.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Georgia"/>
              </a:defRPr>
            </a:pPr>
            <a:r>
              <a:t>•  A compatibility score ranks candidates against each role based on skills, experience, education and job requirements.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Georgia"/>
              </a:defRPr>
            </a:pPr>
            <a:r>
              <a:t>•  An optimization module can assign suitable candidates to multiple roles while maximizing overall team fit.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Georgia"/>
              </a:defRPr>
            </a:pPr>
            <a:r>
              <a:t>•  The platform also identifies the minimum combined skill set needed to staff a team, supporting faster and more informed hiring decisions.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641908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A524E"/>
                </a:solidFill>
                <a:latin typeface="Arial"/>
              </a:rPr>
              <a:t>Resume–Job Matching &amp; Talent-Marketplace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0323" y="34964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076" y="3234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6935" y="3010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1990" y="28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0144" y="27156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0168" y="2657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0749" y="26626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0551" y="2731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272" y="28607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2699" y="304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2765" y="32756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7727" y="2878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232" y="23538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951" y="19064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60" y="1555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7369" y="1316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417" y="1199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579" y="1210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183" y="134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624" y="16066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2478" y="197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610" y="2436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30" y="225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2389" y="14733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4967" y="8022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131" y="2759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4594" y="-82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4666" y="-257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6409" y="-2416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815" y="-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8976" y="3525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2257" y="90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2455" y="15973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-27465" y="1641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545" y="592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983" y="-301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9201" y="-1003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1819" y="-14816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1915" y="-17150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4239" y="-16937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447" y="-14185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4328" y="-9014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02036" y="-16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2300" y="75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160062" y="10232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81297" y="-287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999" y="-14060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8272" y="-22832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9044" y="-28807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9163" y="-31725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2069" y="-3145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1079" y="-2801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9680" y="-21555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1815" y="-12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2146" y="-810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-292658" y="4049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-198141" y="-11680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-72984" y="-25102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342" y="-35628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46269" y="-427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6412" y="-46300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9899" y="-45980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88711" y="-4185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55032" y="-3409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01594" y="-230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21991" y="-920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520440" y="201168"/>
            <a:ext cx="8092440" cy="566928"/>
          </a:xfrm>
          <a:prstGeom prst="roundRect">
            <a:avLst/>
          </a:prstGeom>
          <a:solidFill>
            <a:srgbClr val="CF1C08"/>
          </a:solidFill>
          <a:ln>
            <a:solidFill>
              <a:srgbClr val="A016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500">
                <a:solidFill>
                  <a:srgbClr val="FFFFFF"/>
                </a:solidFill>
                <a:latin typeface="Georgia"/>
              </a:rPr>
              <a:t>Introduction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24E"/>
                </a:solidFill>
                <a:latin typeface="Arial"/>
              </a:rPr>
              <a:t>4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77240" y="1234440"/>
            <a:ext cx="3429000" cy="182880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Hiring Challenge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Recruiters handle large volumes of résumés and job descriptions with inconsistent terminology and formats.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50392" y="1344168"/>
            <a:ext cx="73152" cy="160934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Proposed Solution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An intelligent engine extracts, normalizes and compares candidate skills with job requirements.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62272" y="1344168"/>
            <a:ext cx="73152" cy="160934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001000" y="1234440"/>
            <a:ext cx="3429000" cy="182880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Marketplace Value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Candidates discover relevant opportunities while employers find better-fit talent faster.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74152" y="1344168"/>
            <a:ext cx="73152" cy="160934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" y="3520440"/>
            <a:ext cx="10424160" cy="2286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Georgia"/>
              </a:defRPr>
            </a:pPr>
            <a:r>
              <a:t>•  Reduces manual screening effort and improves consistency.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Georgia"/>
              </a:defRPr>
            </a:pPr>
            <a:r>
              <a:t>•  Provides transparent matching scores and ranked recommendations.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Georgia"/>
              </a:defRPr>
            </a:pPr>
            <a:r>
              <a:t>•  Supports both individual job matching and multi-role team staffing.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641908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A524E"/>
                </a:solidFill>
                <a:latin typeface="Arial"/>
              </a:rPr>
              <a:t>Resume–Job Matching &amp; Talent-Marketplace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0323" y="34964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076" y="3234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6935" y="3010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1990" y="28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0144" y="27156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0168" y="2657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0749" y="26626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0551" y="2731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272" y="28607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2699" y="304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2765" y="32756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7727" y="2878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232" y="23538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951" y="19064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60" y="1555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7369" y="1316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417" y="1199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579" y="1210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183" y="134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624" y="16066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2478" y="197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610" y="2436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30" y="225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2389" y="14733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4967" y="8022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131" y="2759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4594" y="-82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4666" y="-257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6409" y="-2416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815" y="-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8976" y="3525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2257" y="90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2455" y="15973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-27465" y="1641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545" y="592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983" y="-301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9201" y="-1003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1819" y="-14816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1915" y="-17150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4239" y="-16937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447" y="-14185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4328" y="-9014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02036" y="-16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2300" y="75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160062" y="10232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81297" y="-287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999" y="-14060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8272" y="-22832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9044" y="-28807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9163" y="-31725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2069" y="-3145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1079" y="-2801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9680" y="-21555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1815" y="-12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2146" y="-810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-292658" y="4049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-198141" y="-11680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-72984" y="-25102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342" y="-35628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46269" y="-427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6412" y="-46300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9899" y="-45980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88711" y="-4185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55032" y="-3409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01594" y="-230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21991" y="-920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520440" y="201168"/>
            <a:ext cx="8092440" cy="566928"/>
          </a:xfrm>
          <a:prstGeom prst="roundRect">
            <a:avLst/>
          </a:prstGeom>
          <a:solidFill>
            <a:srgbClr val="CF1C08"/>
          </a:solidFill>
          <a:ln>
            <a:solidFill>
              <a:srgbClr val="A016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500">
                <a:solidFill>
                  <a:srgbClr val="FFFFFF"/>
                </a:solidFill>
                <a:latin typeface="Georgia"/>
              </a:rPr>
              <a:t>Literature Survey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24E"/>
                </a:solidFill>
                <a:latin typeface="Arial"/>
              </a:rPr>
              <a:t>5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5800" y="1143000"/>
            <a:ext cx="3520440" cy="196596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Keyword / Rule Matching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Traditional systems rely on exact keywords. They are simple but may miss equivalent skills and contextual relevance.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8952" y="1252728"/>
            <a:ext cx="73152" cy="174650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343400" y="1143000"/>
            <a:ext cx="3520440" cy="196596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Semantic Matching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NLP and embedding-based approaches capture related terms and meaning beyond exact keyword overlap.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16552" y="1252728"/>
            <a:ext cx="73152" cy="174650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001000" y="1143000"/>
            <a:ext cx="3520440" cy="196596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Optimization-Based Hiring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Assignment and set-cover techniques can allocate candidates to roles and minimize the skills required for a team.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74152" y="1252728"/>
            <a:ext cx="73152" cy="174650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" y="3566160"/>
            <a:ext cx="10332720" cy="2103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Georgia"/>
              </a:defRPr>
            </a:pPr>
            <a:r>
              <a:t>•  Gap identified: many solutions focus on ranking candidates but do not jointly address normalization, optimal assignment and team skill coverage.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Georgia"/>
              </a:defRPr>
            </a:pPr>
            <a:r>
              <a:t>•  The proposed engine combines these capabilities into a unified talent-marketplace workflow.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641908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A524E"/>
                </a:solidFill>
                <a:latin typeface="Arial"/>
              </a:rPr>
              <a:t>Resume–Job Matching &amp; Talent-Marketplace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0323" y="34964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076" y="3234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6935" y="3010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1990" y="28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0144" y="27156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0168" y="2657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0749" y="26626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0551" y="2731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272" y="28607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2699" y="304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2765" y="32756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7727" y="2878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232" y="23538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951" y="19064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60" y="1555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7369" y="1316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417" y="1199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579" y="1210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183" y="134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624" y="16066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2478" y="197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610" y="2436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30" y="225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2389" y="14733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4967" y="8022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131" y="2759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4594" y="-82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4666" y="-257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6409" y="-2416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815" y="-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8976" y="3525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2257" y="90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2455" y="15973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-27465" y="1641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545" y="592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983" y="-301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9201" y="-1003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1819" y="-14816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1915" y="-17150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4239" y="-16937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447" y="-14185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4328" y="-9014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02036" y="-16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2300" y="75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160062" y="10232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81297" y="-287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999" y="-14060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8272" y="-22832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9044" y="-28807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9163" y="-31725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2069" y="-3145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1079" y="-2801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9680" y="-21555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1815" y="-12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2146" y="-810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-292658" y="4049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-198141" y="-11680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-72984" y="-25102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342" y="-35628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46269" y="-427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6412" y="-46300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9899" y="-45980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88711" y="-4185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55032" y="-3409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01594" y="-230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21991" y="-920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520440" y="201168"/>
            <a:ext cx="8092440" cy="566928"/>
          </a:xfrm>
          <a:prstGeom prst="roundRect">
            <a:avLst/>
          </a:prstGeom>
          <a:solidFill>
            <a:srgbClr val="CF1C08"/>
          </a:solidFill>
          <a:ln>
            <a:solidFill>
              <a:srgbClr val="A016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500">
                <a:solidFill>
                  <a:srgbClr val="FFFFFF"/>
                </a:solidFill>
                <a:latin typeface="Georgia"/>
              </a:rPr>
              <a:t>Problem Statement and Objectives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24E"/>
                </a:solidFill>
                <a:latin typeface="Arial"/>
              </a:rPr>
              <a:t>6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1097280"/>
            <a:ext cx="5303520" cy="182880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Problem Statement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Hiring platforms must efficiently match large candidate pools to roles despite inconsistent skill names, varied résumé formats and multiple staffing constraints.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4672" y="1207007"/>
            <a:ext cx="73152" cy="160934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172200" y="1097280"/>
            <a:ext cx="5303520" cy="182880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Core Goal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Build an engine that scores candidate–job fit, recommends suitable talent, optimizes role assignment and reports required team skills.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45352" y="1207007"/>
            <a:ext cx="73152" cy="160934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" y="3337560"/>
            <a:ext cx="10332720" cy="2743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Georgia"/>
              </a:defRPr>
            </a:pPr>
            <a:r>
              <a:t>•  Extract and structure relevant résumé and job-posting information.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Georgia"/>
              </a:defRPr>
            </a:pPr>
            <a:r>
              <a:t>•  Normalize skill vocabularies, synonyms and related terms.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Georgia"/>
              </a:defRPr>
            </a:pPr>
            <a:r>
              <a:t>•  Compute a meaningful candidate-to-job compatibility score.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Georgia"/>
              </a:defRPr>
            </a:pPr>
            <a:r>
              <a:t>•  Optimize assignment of candidates to multiple roles.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Georgia"/>
              </a:defRPr>
            </a:pPr>
            <a:r>
              <a:t>•  Identify the minimum skill set required to staff a team.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641908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A524E"/>
                </a:solidFill>
                <a:latin typeface="Arial"/>
              </a:rPr>
              <a:t>Resume–Job Matching &amp; Talent-Marketplace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0323" y="34964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076" y="3234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6935" y="3010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1990" y="28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0144" y="27156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0168" y="2657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0749" y="26626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0551" y="2731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272" y="28607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2699" y="304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2765" y="32756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7727" y="2878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232" y="23538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951" y="19064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60" y="1555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7369" y="1316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417" y="1199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579" y="1210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183" y="134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624" y="16066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2478" y="197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610" y="2436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30" y="225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2389" y="14733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4967" y="8022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131" y="2759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4594" y="-82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4666" y="-257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6409" y="-2416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815" y="-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8976" y="3525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2257" y="90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2455" y="15973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-27465" y="1641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545" y="592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983" y="-301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9201" y="-1003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1819" y="-14816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1915" y="-17150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4239" y="-16937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447" y="-14185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4328" y="-9014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02036" y="-16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2300" y="75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160062" y="10232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81297" y="-287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999" y="-14060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8272" y="-22832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9044" y="-28807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9163" y="-31725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2069" y="-3145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1079" y="-2801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9680" y="-21555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1815" y="-12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2146" y="-810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-292658" y="4049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-198141" y="-11680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-72984" y="-25102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342" y="-35628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46269" y="-427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6412" y="-46300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9899" y="-45980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88711" y="-4185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55032" y="-3409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01594" y="-230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21991" y="-920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520440" y="201168"/>
            <a:ext cx="8092440" cy="566928"/>
          </a:xfrm>
          <a:prstGeom prst="roundRect">
            <a:avLst/>
          </a:prstGeom>
          <a:solidFill>
            <a:srgbClr val="CF1C08"/>
          </a:solidFill>
          <a:ln>
            <a:solidFill>
              <a:srgbClr val="A016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500">
                <a:solidFill>
                  <a:srgbClr val="FFFFFF"/>
                </a:solidFill>
                <a:latin typeface="Georgia"/>
              </a:rPr>
              <a:t>Hardware and Software Requirements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24E"/>
                </a:solidFill>
                <a:latin typeface="Arial"/>
              </a:rPr>
              <a:t>7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5800" y="1143000"/>
            <a:ext cx="5303520" cy="196596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Hardware Requirements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• Laptop / desktop computer
• Minimum 4 GB RAM (8 GB recommended)
• Dual-core processor or better
• Stable internet connection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8952" y="1252728"/>
            <a:ext cx="73152" cy="174650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172200" y="1143000"/>
            <a:ext cx="5303520" cy="196596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Software Requirements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• Python / JavaScript development environment
• React for web interface
• Backend API framework
• Database for candidate, job and skill data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45352" y="1252728"/>
            <a:ext cx="73152" cy="174650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85800" y="3429000"/>
            <a:ext cx="5303520" cy="196596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Processing &amp; AI Layer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• NLP / text preprocessing
• Skill extraction and normalization
• Similarity or embedding model
• Ranking and optimization algorithms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58952" y="3538728"/>
            <a:ext cx="73152" cy="174650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72200" y="3429000"/>
            <a:ext cx="5303520" cy="196596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Development Tools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• VS Code or equivalent IDE
• Git and GitHub
• Modern web browser
• API testing tool such as Postman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45352" y="3538728"/>
            <a:ext cx="73152" cy="174650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641908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A524E"/>
                </a:solidFill>
                <a:latin typeface="Arial"/>
              </a:rPr>
              <a:t>Resume–Job Matching &amp; Talent-Marketplace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0323" y="34964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076" y="3234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6935" y="3010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1990" y="28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0144" y="27156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0168" y="2657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0749" y="26626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0551" y="2731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272" y="28607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2699" y="304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2765" y="32756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7727" y="2878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232" y="23538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951" y="19064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60" y="1555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7369" y="1316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417" y="1199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579" y="1210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183" y="134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624" y="16066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2478" y="197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610" y="2436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30" y="225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2389" y="14733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4967" y="8022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131" y="2759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4594" y="-82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4666" y="-257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6409" y="-2416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815" y="-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8976" y="3525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2257" y="90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2455" y="15973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-27465" y="1641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545" y="592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983" y="-301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9201" y="-1003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1819" y="-14816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1915" y="-17150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4239" y="-16937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447" y="-14185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4328" y="-9014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02036" y="-16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2300" y="75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160062" y="10232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81297" y="-287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999" y="-14060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8272" y="-22832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9044" y="-28807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9163" y="-31725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2069" y="-3145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1079" y="-2801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9680" y="-21555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1815" y="-12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2146" y="-810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-292658" y="4049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-198141" y="-11680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-72984" y="-25102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342" y="-35628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46269" y="-427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6412" y="-46300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9899" y="-45980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88711" y="-4185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55032" y="-3409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01594" y="-230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21991" y="-920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520440" y="201168"/>
            <a:ext cx="8092440" cy="566928"/>
          </a:xfrm>
          <a:prstGeom prst="roundRect">
            <a:avLst/>
          </a:prstGeom>
          <a:solidFill>
            <a:srgbClr val="CF1C08"/>
          </a:solidFill>
          <a:ln>
            <a:solidFill>
              <a:srgbClr val="A016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500">
                <a:solidFill>
                  <a:srgbClr val="FFFFFF"/>
                </a:solidFill>
                <a:latin typeface="Georgia"/>
              </a:rPr>
              <a:t>Results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24E"/>
                </a:solidFill>
                <a:latin typeface="Arial"/>
              </a:rPr>
              <a:t>8</a:t>
            </a:r>
          </a:p>
        </p:txBody>
      </p:sp>
      <p:sp>
        <p:nvSpPr>
          <p:cNvPr id="70" name="Oval 69"/>
          <p:cNvSpPr/>
          <p:nvPr/>
        </p:nvSpPr>
        <p:spPr>
          <a:xfrm>
            <a:off x="1188720" y="1234440"/>
            <a:ext cx="475488" cy="475488"/>
          </a:xfrm>
          <a:prstGeom prst="ellipse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4360" y="1874519"/>
            <a:ext cx="2057400" cy="196596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Résumé Input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Candidate profile and skills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67512" y="1984248"/>
            <a:ext cx="73152" cy="174650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633472" y="1426464"/>
            <a:ext cx="292608" cy="73152"/>
          </a:xfrm>
          <a:prstGeom prst="rect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520439" y="1234440"/>
            <a:ext cx="475488" cy="475488"/>
          </a:xfrm>
          <a:prstGeom prst="ellipse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926079" y="1874519"/>
            <a:ext cx="2057400" cy="196596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Skill Normalization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Common skill vocabulary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999232" y="1984248"/>
            <a:ext cx="73152" cy="174650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965192" y="1426464"/>
            <a:ext cx="292608" cy="73152"/>
          </a:xfrm>
          <a:prstGeom prst="rect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852160" y="1234440"/>
            <a:ext cx="475488" cy="475488"/>
          </a:xfrm>
          <a:prstGeom prst="ellipse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257800" y="1874519"/>
            <a:ext cx="2057400" cy="196596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Job Matching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Fit score and ranking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30952" y="1984248"/>
            <a:ext cx="73152" cy="174650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96912" y="1426464"/>
            <a:ext cx="292608" cy="73152"/>
          </a:xfrm>
          <a:prstGeom prst="rect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183879" y="1234440"/>
            <a:ext cx="475488" cy="475488"/>
          </a:xfrm>
          <a:prstGeom prst="ellipse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589519" y="1874519"/>
            <a:ext cx="2057400" cy="196596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Assignment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Best candidate–role allocation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662671" y="1984248"/>
            <a:ext cx="73152" cy="174650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628632" y="1426464"/>
            <a:ext cx="292608" cy="73152"/>
          </a:xfrm>
          <a:prstGeom prst="rect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515600" y="1234440"/>
            <a:ext cx="475488" cy="475488"/>
          </a:xfrm>
          <a:prstGeom prst="ellipse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921240" y="1874519"/>
            <a:ext cx="2057400" cy="1965960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Team Coverage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Minimum skill set report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994392" y="1984248"/>
            <a:ext cx="73152" cy="1746504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68680" y="4343400"/>
            <a:ext cx="10469880" cy="15544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Georgia"/>
              </a:defRPr>
            </a:pPr>
            <a:r>
              <a:t>•  Produces ranked candidate recommendations instead of manual résumé-by-résumé screening.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Georgia"/>
              </a:defRPr>
            </a:pPr>
            <a:r>
              <a:t>•  Makes skill equivalence easier to handle through normalization.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Georgia"/>
              </a:defRPr>
            </a:pPr>
            <a:r>
              <a:t>•  Provides a foundation for measurable matching accuracy, staffing efficiency and reduced hiring effort.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641908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A524E"/>
                </a:solidFill>
                <a:latin typeface="Arial"/>
              </a:rPr>
              <a:t>Resume–Job Matching &amp; Talent-Marketplace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0323" y="34964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076" y="3234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6935" y="3010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1990" y="28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0144" y="27156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0168" y="2657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0749" y="26626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0551" y="2731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272" y="28607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2699" y="304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2765" y="32756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7727" y="2878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232" y="23538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951" y="19064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60" y="1555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7369" y="1316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417" y="1199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579" y="1210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183" y="134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624" y="16066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2478" y="197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610" y="2436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30" y="225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2389" y="14733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4967" y="8022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131" y="2759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4594" y="-82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4666" y="-257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6409" y="-2416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815" y="-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8976" y="3525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2257" y="90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2455" y="15973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-27465" y="1641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545" y="592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983" y="-301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9201" y="-1003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1819" y="-14816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1915" y="-17150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4239" y="-16937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447" y="-14185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4328" y="-9014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02036" y="-16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2300" y="75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160062" y="10232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81297" y="-287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999" y="-14060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8272" y="-22832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9044" y="-28807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9163" y="-31725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2069" y="-3145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1079" y="-2801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9680" y="-21555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1815" y="-12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2146" y="-810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-292658" y="4049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-198141" y="-11680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-72984" y="-25102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342" y="-35628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46269" y="-427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6412" y="-46300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9899" y="-45980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88711" y="-4185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55032" y="-3409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01594" y="-230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21991" y="-920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520440" y="201168"/>
            <a:ext cx="8092440" cy="566928"/>
          </a:xfrm>
          <a:prstGeom prst="roundRect">
            <a:avLst/>
          </a:prstGeom>
          <a:solidFill>
            <a:srgbClr val="CF1C08"/>
          </a:solidFill>
          <a:ln>
            <a:solidFill>
              <a:srgbClr val="A016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500">
                <a:solidFill>
                  <a:srgbClr val="FFFFFF"/>
                </a:solidFill>
                <a:latin typeface="Georgia"/>
              </a:rPr>
              <a:t>Conclusion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24E"/>
                </a:solidFill>
                <a:latin typeface="Arial"/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1234440"/>
            <a:ext cx="10332720" cy="41148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Georgia"/>
              </a:defRPr>
            </a:pPr>
            <a:r>
              <a:t>•  The Resume–Job Matching &amp; Talent-Marketplace Engine provides an end-to-end approach to intelligent talent discovery.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Georgia"/>
              </a:defRPr>
            </a:pPr>
            <a:r>
              <a:t>•  Combining skill normalization, compatibility scoring and optimization improves the relevance of candidate recommendations.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Georgia"/>
              </a:defRPr>
            </a:pPr>
            <a:r>
              <a:t>•  The system can reduce repetitive recruiter effort and help organizations make faster, data-driven staffing decisions.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Georgia"/>
              </a:defRPr>
            </a:pPr>
            <a:r>
              <a:t>•  Its modular design allows future integration of advanced NLP, analytics and enterprise hiring workflows.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641908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A524E"/>
                </a:solidFill>
                <a:latin typeface="Arial"/>
              </a:rPr>
              <a:t>Resume–Job Matching &amp; Talent-Marketplace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0323" y="34964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6076" y="3234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6935" y="3010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1990" y="28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60144" y="27156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0168" y="26573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0749" y="26626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0551" y="2731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272" y="28607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2699" y="304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2765" y="32756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7727" y="2878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232" y="23538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951" y="19064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60" y="1555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7369" y="1316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417" y="1199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579" y="1210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183" y="134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624" y="16066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2478" y="197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610" y="24364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30" y="225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2389" y="14733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4967" y="8022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131" y="2759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4594" y="-825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4666" y="-257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6409" y="-2416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815" y="-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8976" y="3525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2257" y="9048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2455" y="15973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-27465" y="16415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545" y="592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983" y="-3018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9201" y="-10036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1819" y="-148164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1915" y="-17150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4239" y="-16937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447" y="-14185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4328" y="-9014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02036" y="-16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2300" y="7581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-160062" y="10232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-81297" y="-2875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999" y="-14060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8272" y="-228321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9044" y="-28807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9163" y="-317256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2069" y="-3145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1079" y="-28018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9680" y="-21555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01815" y="-123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02146" y="-810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-292658" y="40495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-198141" y="-11680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-72984" y="-25102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342" y="-35628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46269" y="-427987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6412" y="-463003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9899" y="-459800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88711" y="-418518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55032" y="-340962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01594" y="-2305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21991" y="-92019"/>
            <a:ext cx="32004" cy="32004"/>
          </a:xfrm>
          <a:prstGeom prst="ellipse">
            <a:avLst/>
          </a:prstGeom>
          <a:solidFill>
            <a:srgbClr val="A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520440" y="201168"/>
            <a:ext cx="8092440" cy="566928"/>
          </a:xfrm>
          <a:prstGeom prst="roundRect">
            <a:avLst/>
          </a:prstGeom>
          <a:solidFill>
            <a:srgbClr val="CF1C08"/>
          </a:solidFill>
          <a:ln>
            <a:solidFill>
              <a:srgbClr val="A016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500">
                <a:solidFill>
                  <a:srgbClr val="FFFFFF"/>
                </a:solidFill>
                <a:latin typeface="Georgia"/>
              </a:rPr>
              <a:t>Future Scope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7572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24E"/>
                </a:solidFill>
                <a:latin typeface="Arial"/>
              </a:rPr>
              <a:t>10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5800" y="1143000"/>
            <a:ext cx="3474720" cy="1874519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Advanced AI Matching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Use transformer-based embeddings and LLMs for deeper semantic understanding of résumés and job descriptions.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8952" y="1252728"/>
            <a:ext cx="73152" cy="1655063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343400" y="1143000"/>
            <a:ext cx="3474720" cy="1874519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Personalized Recommendations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Recommend jobs, candidates and learning paths based on skills, experience and career goals.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16552" y="1252728"/>
            <a:ext cx="73152" cy="1655063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001000" y="1143000"/>
            <a:ext cx="3474720" cy="1874519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Real-Time Marketplace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Support live job updates, candidate availability, recruiter alerts and dynamic ranking.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74152" y="1252728"/>
            <a:ext cx="73152" cy="1655063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85800" y="3429000"/>
            <a:ext cx="3474720" cy="1874519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Fairness &amp; Explainability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Add bias monitoring and clear explanations for why a candidate matches a role.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58952" y="3538728"/>
            <a:ext cx="73152" cy="1655063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343400" y="3429000"/>
            <a:ext cx="3474720" cy="1874519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Skill Gap Analysis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Identify missing skills and recommend targeted courses or certifications.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416552" y="3538728"/>
            <a:ext cx="73152" cy="1655063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001000" y="3429000"/>
            <a:ext cx="3474720" cy="1874519"/>
          </a:xfrm>
          <a:prstGeom prst="roundRect">
            <a:avLst/>
          </a:prstGeom>
          <a:solidFill>
            <a:srgbClr val="FFF4ED"/>
          </a:solidFill>
          <a:ln>
            <a:solidFill>
              <a:srgbClr val="EBB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64592"/>
          <a:lstStyle/>
          <a:p>
            <a:pPr algn="ctr">
              <a:spcAft>
                <a:spcPts val="800"/>
              </a:spcAft>
            </a:pPr>
            <a:r>
              <a:rPr b="1" sz="1800">
                <a:solidFill>
                  <a:srgbClr val="A01608"/>
                </a:solidFill>
                <a:latin typeface="Georgia"/>
              </a:rPr>
              <a:t>Enterprise Integration</a:t>
            </a:r>
          </a:p>
          <a:p>
            <a:r>
              <a:rPr sz="1300">
                <a:solidFill>
                  <a:srgbClr val="1E1E1E"/>
                </a:solidFill>
                <a:latin typeface="Arial"/>
              </a:rPr>
              <a:t>Integrate with ATS, HR systems, interview scheduling and workforce analytics.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074152" y="3538728"/>
            <a:ext cx="73152" cy="1655063"/>
          </a:xfrm>
          <a:prstGeom prst="roundRect">
            <a:avLst/>
          </a:prstGeom>
          <a:solidFill>
            <a:srgbClr val="CF1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5800" y="641908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A524E"/>
                </a:solidFill>
                <a:latin typeface="Arial"/>
              </a:rPr>
              <a:t>Resume–Job Matching &amp; Talent-Marketplace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